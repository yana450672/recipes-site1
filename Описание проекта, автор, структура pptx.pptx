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  <p:sldMasterId id="2147483771" r:id="rId2"/>
  </p:sldMasterIdLst>
  <p:notesMasterIdLst>
    <p:notesMasterId r:id="rId10"/>
  </p:notesMasterIdLst>
  <p:sldIdLst>
    <p:sldId id="256" r:id="rId3"/>
    <p:sldId id="257" r:id="rId4"/>
    <p:sldId id="258" r:id="rId5"/>
    <p:sldId id="260" r:id="rId6"/>
    <p:sldId id="264" r:id="rId7"/>
    <p:sldId id="263" r:id="rId8"/>
    <p:sldId id="265" r:id="rId9"/>
  </p:sldIdLst>
  <p:sldSz cx="9144000" cy="6858000" type="screen4x3"/>
  <p:notesSz cx="6797675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2661" autoAdjust="0"/>
  </p:normalViewPr>
  <p:slideViewPr>
    <p:cSldViewPr>
      <p:cViewPr varScale="1">
        <p:scale>
          <a:sx n="74" d="100"/>
          <a:sy n="74" d="100"/>
        </p:scale>
        <p:origin x="-189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Tahoma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Tahoma" charset="0"/>
              </a:defRPr>
            </a:lvl1pPr>
          </a:lstStyle>
          <a:p>
            <a:pPr>
              <a:defRPr/>
            </a:pPr>
            <a:fld id="{DE752470-570F-4469-93C6-2A71F3758B98}" type="datetimeFigureOut">
              <a:rPr lang="ru-RU"/>
              <a:pPr>
                <a:defRPr/>
              </a:pPr>
              <a:t>09.02.2022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Tahoma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latin typeface="Tahoma" charset="0"/>
              </a:defRPr>
            </a:lvl1pPr>
          </a:lstStyle>
          <a:p>
            <a:pPr>
              <a:defRPr/>
            </a:pPr>
            <a:fld id="{243B0619-7024-4D39-BC63-CF162E4E7FA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7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/>
          </a:p>
        </p:txBody>
      </p:sp>
      <p:sp>
        <p:nvSpPr>
          <p:cNvPr id="614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0372B47-F862-4D39-8B66-E3B8486935FA}" type="slidenum">
              <a:rPr lang="ru-RU">
                <a:latin typeface="Tahoma" pitchFamily="34" charset="0"/>
              </a:rPr>
              <a:pPr/>
              <a:t>1</a:t>
            </a:fld>
            <a:endParaRPr lang="ru-RU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680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/>
          </a:p>
        </p:txBody>
      </p:sp>
      <p:sp>
        <p:nvSpPr>
          <p:cNvPr id="717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3223DBA-8DBA-4212-92C8-9238B39F9697}" type="slidenum">
              <a:rPr lang="ru-RU">
                <a:latin typeface="Tahoma" pitchFamily="34" charset="0"/>
              </a:rPr>
              <a:pPr/>
              <a:t>2</a:t>
            </a:fld>
            <a:endParaRPr lang="ru-RU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650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79F3B-C5A9-4321-AAB4-D45270C3B008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7096E-5CDC-41D4-9B3E-322EBD82528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8816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1F26-36C6-4F2A-A9A5-1D2C1E800491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AA67-7176-4170-A4DA-410FCA14BD1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6521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888CA-7045-4CB7-AC6E-005264A3BBE2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08CB3-7AC5-4C66-BE2C-0298214149C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1373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387F-B97D-4A35-871B-83F94FC4C663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CA615-0530-4A05-BD75-30048E8998C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189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74C9D-ED21-4A49-B585-9E0BFB29F092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C6517-631E-45B4-96D2-05429D3E081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9871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0E648-D239-48B9-9369-00E5FBEF34D8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7AD9C-71C5-4D0F-A20C-6489C042C65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49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29CC-5D2E-45E8-B654-54476B2B8730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862DE-0D3C-44D2-A8CE-42EB4EFD6C0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326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CB7A2-71DC-4E6E-9C5B-A3504BA5E9B5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D2544-2F05-41E9-96A2-C7CDEF3EFDE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9369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4AB3F-9AE8-4DE6-8763-78A02821DCE1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D709F-D4FC-45A2-AF4D-51E71DBB43C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51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B65C1-7258-4462-B1F1-8A15FA98F840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7D5D-C9B4-4BA7-8896-959CB546246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583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E7E60-94DB-44EF-A664-1F882C6E053B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099E-0DE1-4893-AC26-0AE14A6EF8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325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1EDC-A2B1-4467-8D3F-4DFD9B83CAD8}" type="datetimeFigureOut">
              <a:rPr lang="uk-UA" smtClean="0"/>
              <a:pPr/>
              <a:t>09.02.2022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570F2-E200-4629-A09A-B32E2C0D788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7993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1EDC-A2B1-4467-8D3F-4DFD9B83CAD8}" type="datetimeFigureOut">
              <a:rPr lang="uk-UA" smtClean="0"/>
              <a:pPr/>
              <a:t>09.02.2022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570F2-E200-4629-A09A-B32E2C0D788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25319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1EDC-A2B1-4467-8D3F-4DFD9B83CAD8}" type="datetimeFigureOut">
              <a:rPr lang="uk-UA" smtClean="0"/>
              <a:pPr/>
              <a:t>09.02.2022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570F2-E200-4629-A09A-B32E2C0D788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371543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1EDC-A2B1-4467-8D3F-4DFD9B83CAD8}" type="datetimeFigureOut">
              <a:rPr lang="uk-UA" smtClean="0"/>
              <a:pPr/>
              <a:t>09.02.2022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570F2-E200-4629-A09A-B32E2C0D788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310399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1EDC-A2B1-4467-8D3F-4DFD9B83CAD8}" type="datetimeFigureOut">
              <a:rPr lang="uk-UA" smtClean="0"/>
              <a:pPr/>
              <a:t>09.02.2022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570F2-E200-4629-A09A-B32E2C0D788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98738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1EDC-A2B1-4467-8D3F-4DFD9B83CAD8}" type="datetimeFigureOut">
              <a:rPr lang="uk-UA" smtClean="0"/>
              <a:pPr/>
              <a:t>09.02.2022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570F2-E200-4629-A09A-B32E2C0D788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00058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1EDC-A2B1-4467-8D3F-4DFD9B83CAD8}" type="datetimeFigureOut">
              <a:rPr lang="uk-UA" smtClean="0"/>
              <a:pPr/>
              <a:t>09.02.2022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570F2-E200-4629-A09A-B32E2C0D788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693459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1EDC-A2B1-4467-8D3F-4DFD9B83CAD8}" type="datetimeFigureOut">
              <a:rPr lang="uk-UA" smtClean="0"/>
              <a:pPr/>
              <a:t>09.02.2022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570F2-E200-4629-A09A-B32E2C0D788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405116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1EDC-A2B1-4467-8D3F-4DFD9B83CAD8}" type="datetimeFigureOut">
              <a:rPr lang="uk-UA" smtClean="0"/>
              <a:pPr/>
              <a:t>09.02.2022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570F2-E200-4629-A09A-B32E2C0D788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95121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1EDC-A2B1-4467-8D3F-4DFD9B83CAD8}" type="datetimeFigureOut">
              <a:rPr lang="uk-UA" smtClean="0"/>
              <a:pPr/>
              <a:t>09.02.2022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570F2-E200-4629-A09A-B32E2C0D788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705889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D1EDC-A2B1-4467-8D3F-4DFD9B83CAD8}" type="datetimeFigureOut">
              <a:rPr lang="uk-UA" smtClean="0"/>
              <a:pPr/>
              <a:t>09.02.2022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570F2-E200-4629-A09A-B32E2C0D788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36468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354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30154-80AB-4863-AB4E-C9B23319C25C}" type="datetimeFigureOut">
              <a:rPr lang="ru-RU" smtClean="0"/>
              <a:pPr/>
              <a:t>09.02.2022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58575-84E4-4A0C-A73D-8C528AD21DA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904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39"/>
            <a:ext cx="9143999" cy="685466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D1EDC-A2B1-4467-8D3F-4DFD9B83CAD8}" type="datetimeFigureOut">
              <a:rPr lang="uk-UA" smtClean="0"/>
              <a:pPr/>
              <a:t>09.02.2022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570F2-E200-4629-A09A-B32E2C0D788B}" type="slidenum">
              <a:rPr lang="uk-UA" smtClean="0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2438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1065164" y="2110194"/>
            <a:ext cx="742339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077913" indent="-1077913" algn="ctr">
              <a:spcBef>
                <a:spcPct val="50000"/>
              </a:spcBef>
            </a:pPr>
            <a:r>
              <a:rPr lang="ru-RU" sz="2400" dirty="0">
                <a:latin typeface="Tahoma" pitchFamily="34" charset="0"/>
              </a:rPr>
              <a:t>Тема: «Определение продолжительности типового проекта «Усовершенствование технологии изготовления отливки «Коробка сальника» с использованием </a:t>
            </a:r>
            <a:r>
              <a:rPr lang="en-US" sz="2400" dirty="0">
                <a:latin typeface="Tahoma" pitchFamily="34" charset="0"/>
              </a:rPr>
              <a:t>MS Project</a:t>
            </a:r>
            <a:r>
              <a:rPr lang="ru-RU" sz="2400" dirty="0">
                <a:latin typeface="Tahoma" pitchFamily="34" charset="0"/>
              </a:rPr>
              <a:t>»</a:t>
            </a: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2987824" y="4316063"/>
            <a:ext cx="622818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077913" indent="-1077913">
              <a:spcBef>
                <a:spcPct val="50000"/>
              </a:spcBef>
            </a:pPr>
            <a:r>
              <a:rPr lang="ru-RU" sz="2400" dirty="0">
                <a:latin typeface="Tahoma" pitchFamily="34" charset="0"/>
              </a:rPr>
              <a:t>Выполнил: 		</a:t>
            </a:r>
          </a:p>
          <a:p>
            <a:pPr marL="1077913" indent="-1077913">
              <a:spcBef>
                <a:spcPct val="50000"/>
              </a:spcBef>
            </a:pPr>
            <a:r>
              <a:rPr lang="ru-RU" sz="2400" dirty="0">
                <a:latin typeface="Tahoma" pitchFamily="34" charset="0"/>
              </a:rPr>
              <a:t>Группа:	 	</a:t>
            </a:r>
          </a:p>
        </p:txBody>
      </p:sp>
      <p:sp>
        <p:nvSpPr>
          <p:cNvPr id="2055" name="Text Box 7"/>
          <p:cNvSpPr txBox="1">
            <a:spLocks noChangeArrowheads="1"/>
          </p:cNvSpPr>
          <p:nvPr/>
        </p:nvSpPr>
        <p:spPr bwMode="auto">
          <a:xfrm>
            <a:off x="2051050" y="5734050"/>
            <a:ext cx="587853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077913" indent="-1077913" algn="ctr"/>
            <a:r>
              <a:rPr lang="ru-RU" sz="2400" dirty="0">
                <a:latin typeface="Tahoma" pitchFamily="34" charset="0"/>
              </a:rPr>
              <a:t>Санкт-Петербург</a:t>
            </a:r>
          </a:p>
          <a:p>
            <a:pPr marL="1077913" indent="-1077913" algn="ctr"/>
            <a:r>
              <a:rPr lang="ru-RU" sz="2400" dirty="0" smtClean="0">
                <a:latin typeface="Tahoma" pitchFamily="34" charset="0"/>
              </a:rPr>
              <a:t>2022 </a:t>
            </a:r>
            <a:r>
              <a:rPr lang="ru-RU" sz="2400" dirty="0">
                <a:latin typeface="Tahoma" pitchFamily="34" charset="0"/>
              </a:rPr>
              <a:t>г.</a:t>
            </a: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642910" y="214290"/>
            <a:ext cx="7826913" cy="1600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sz="1400" kern="0" dirty="0">
                <a:ea typeface="Trebuchet MS" pitchFamily="34" charset="0"/>
                <a:cs typeface="Times New Roman" pitchFamily="18" charset="0"/>
              </a:rPr>
              <a:t>МИНИСТЕРСТВО НАУКИ И ВЫСШЕГО ОБРАЗОВАНИЯ РОССИЙСКОЙ ФЕДЕРАЦИИ</a:t>
            </a:r>
            <a:r>
              <a:rPr lang="ru-RU" altLang="ru-RU" sz="1400" kern="0" dirty="0">
                <a:ea typeface="Calibri" pitchFamily="34" charset="0"/>
                <a:cs typeface="Times New Roman" pitchFamily="18" charset="0"/>
              </a:rPr>
              <a:t/>
            </a:r>
            <a:br>
              <a:rPr lang="ru-RU" altLang="ru-RU" sz="1400" kern="0" dirty="0">
                <a:ea typeface="Calibri" pitchFamily="34" charset="0"/>
                <a:cs typeface="Times New Roman" pitchFamily="18" charset="0"/>
              </a:rPr>
            </a:br>
            <a:r>
              <a:rPr lang="ru-RU" altLang="ru-RU" sz="1400" kern="0" dirty="0">
                <a:ea typeface="Calibri" pitchFamily="34" charset="0"/>
                <a:cs typeface="Times New Roman" pitchFamily="18" charset="0"/>
              </a:rPr>
              <a:t>ф</a:t>
            </a:r>
            <a:r>
              <a:rPr lang="ru-RU" altLang="ru-RU" sz="1400" kern="0" dirty="0">
                <a:ea typeface="Trebuchet MS" pitchFamily="34" charset="0"/>
                <a:cs typeface="Times New Roman" pitchFamily="18" charset="0"/>
              </a:rPr>
              <a:t>едеральное государственное автономное образовательное учреждение </a:t>
            </a:r>
            <a:br>
              <a:rPr lang="ru-RU" altLang="ru-RU" sz="1400" kern="0" dirty="0">
                <a:ea typeface="Trebuchet MS" pitchFamily="34" charset="0"/>
                <a:cs typeface="Times New Roman" pitchFamily="18" charset="0"/>
              </a:rPr>
            </a:br>
            <a:r>
              <a:rPr lang="ru-RU" altLang="ru-RU" sz="1400" kern="0" dirty="0">
                <a:ea typeface="Trebuchet MS" pitchFamily="34" charset="0"/>
                <a:cs typeface="Times New Roman" pitchFamily="18" charset="0"/>
              </a:rPr>
              <a:t>высшего образования</a:t>
            </a:r>
            <a:r>
              <a:rPr lang="ru-RU" altLang="ru-RU" sz="1400" kern="0" dirty="0"/>
              <a:t/>
            </a:r>
            <a:br>
              <a:rPr lang="ru-RU" altLang="ru-RU" sz="1400" kern="0" dirty="0"/>
            </a:br>
            <a:r>
              <a:rPr lang="ru-RU" altLang="ru-RU" sz="1400" kern="0" dirty="0"/>
              <a:t>«САНКТ-ПЕТЕРБУРГСКИЙ ГОСУДАРСТВЕННЫЙ УНИВЕРСИТЕТ </a:t>
            </a:r>
            <a:br>
              <a:rPr lang="ru-RU" altLang="ru-RU" sz="1400" kern="0" dirty="0"/>
            </a:br>
            <a:r>
              <a:rPr lang="ru-RU" altLang="ru-RU" sz="1400" kern="0" dirty="0"/>
              <a:t>АЭРОКОСМИЧЕСКОГО ПРИБОРОСТРОЕНИЯ»</a:t>
            </a:r>
            <a:endParaRPr lang="ru-RU" sz="1200" kern="0" dirty="0">
              <a:latin typeface="Calibri"/>
            </a:endParaRPr>
          </a:p>
          <a:p>
            <a:pPr algn="ctr"/>
            <a:endParaRPr lang="ru-RU" sz="1400" dirty="0">
              <a:solidFill>
                <a:schemeClr val="tx1">
                  <a:lumMod val="65000"/>
                </a:schemeClr>
              </a:solidFill>
              <a:cs typeface="Times New Roman" pitchFamily="18" charset="0"/>
            </a:endParaRPr>
          </a:p>
          <a:p>
            <a:pPr algn="ctr"/>
            <a:r>
              <a:rPr lang="ru-RU" sz="1400" dirty="0">
                <a:solidFill>
                  <a:schemeClr val="tx1">
                    <a:lumMod val="65000"/>
                  </a:schemeClr>
                </a:solidFill>
                <a:cs typeface="Times New Roman" pitchFamily="18" charset="0"/>
              </a:rPr>
              <a:t>КАФЕДРА </a:t>
            </a:r>
            <a:r>
              <a:rPr lang="ru-RU" sz="1400" dirty="0" smtClean="0">
                <a:solidFill>
                  <a:schemeClr val="tx1">
                    <a:lumMod val="65000"/>
                  </a:schemeClr>
                </a:solidFill>
                <a:cs typeface="Times New Roman" pitchFamily="18" charset="0"/>
              </a:rPr>
              <a:t>№5</a:t>
            </a:r>
            <a:endParaRPr lang="ru-RU" sz="1600" b="1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3" grpId="0"/>
      <p:bldP spid="2054" grpId="0"/>
      <p:bldP spid="205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7634" y="408887"/>
            <a:ext cx="9144000" cy="857250"/>
          </a:xfrm>
        </p:spPr>
        <p:txBody>
          <a:bodyPr>
            <a:noAutofit/>
          </a:bodyPr>
          <a:lstStyle/>
          <a:p>
            <a:pPr algn="ctr"/>
            <a:r>
              <a:rPr lang="ru-RU" sz="32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Обоснование актуальности темы проекта</a:t>
            </a:r>
          </a:p>
        </p:txBody>
      </p:sp>
      <p:sp>
        <p:nvSpPr>
          <p:cNvPr id="4113" name="AutoShape 19"/>
          <p:cNvSpPr>
            <a:spLocks noChangeArrowheads="1"/>
          </p:cNvSpPr>
          <p:nvPr/>
        </p:nvSpPr>
        <p:spPr bwMode="auto">
          <a:xfrm>
            <a:off x="4116213" y="2214554"/>
            <a:ext cx="642942" cy="504825"/>
          </a:xfrm>
          <a:prstGeom prst="rightArrow">
            <a:avLst>
              <a:gd name="adj1" fmla="val 50000"/>
              <a:gd name="adj2" fmla="val 2853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>
              <a:latin typeface="Tahoma" pitchFamily="34" charset="0"/>
            </a:endParaRPr>
          </a:p>
        </p:txBody>
      </p:sp>
      <p:sp>
        <p:nvSpPr>
          <p:cNvPr id="4114" name="Text Box 20"/>
          <p:cNvSpPr txBox="1">
            <a:spLocks noChangeArrowheads="1"/>
          </p:cNvSpPr>
          <p:nvPr/>
        </p:nvSpPr>
        <p:spPr bwMode="auto">
          <a:xfrm>
            <a:off x="1403287" y="3911946"/>
            <a:ext cx="6174463" cy="30797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>
                <a:latin typeface="Tahoma" pitchFamily="34" charset="0"/>
              </a:rPr>
              <a:t>Цель проекта:</a:t>
            </a:r>
          </a:p>
        </p:txBody>
      </p:sp>
      <p:sp>
        <p:nvSpPr>
          <p:cNvPr id="4115" name="Text Box 21"/>
          <p:cNvSpPr txBox="1">
            <a:spLocks noChangeArrowheads="1"/>
          </p:cNvSpPr>
          <p:nvPr/>
        </p:nvSpPr>
        <p:spPr bwMode="auto">
          <a:xfrm>
            <a:off x="1393009" y="4230846"/>
            <a:ext cx="6184908" cy="738664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 dirty="0">
                <a:solidFill>
                  <a:srgbClr val="0070C0"/>
                </a:solidFill>
                <a:latin typeface="Tahoma" pitchFamily="34" charset="0"/>
              </a:rPr>
              <a:t>На основе анализа существующих подходов определить продолжительность проекта по усовершенствованию технологии изготовления отливки «Коробка сальника» с использованием </a:t>
            </a:r>
            <a:r>
              <a:rPr lang="en-US" sz="1400" dirty="0">
                <a:solidFill>
                  <a:srgbClr val="0070C0"/>
                </a:solidFill>
                <a:latin typeface="Tahoma" pitchFamily="34" charset="0"/>
              </a:rPr>
              <a:t>MS Project</a:t>
            </a:r>
            <a:endParaRPr lang="ru-RU" sz="1400" dirty="0">
              <a:solidFill>
                <a:srgbClr val="0070C0"/>
              </a:solidFill>
              <a:latin typeface="Tahoma" pitchFamily="34" charset="0"/>
            </a:endParaRPr>
          </a:p>
        </p:txBody>
      </p:sp>
      <p:sp>
        <p:nvSpPr>
          <p:cNvPr id="4116" name="Text Box 22"/>
          <p:cNvSpPr txBox="1">
            <a:spLocks noChangeArrowheads="1"/>
          </p:cNvSpPr>
          <p:nvPr/>
        </p:nvSpPr>
        <p:spPr bwMode="auto">
          <a:xfrm>
            <a:off x="1857356" y="5643578"/>
            <a:ext cx="5113338" cy="954107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ru-RU" sz="1400" dirty="0">
                <a:latin typeface="Tahoma" pitchFamily="34" charset="0"/>
              </a:rPr>
              <a:t>Разработать структуру проекта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ru-RU" sz="1400" dirty="0">
                <a:latin typeface="Tahoma" pitchFamily="34" charset="0"/>
              </a:rPr>
              <a:t>Определить связи между задачами проекта</a:t>
            </a:r>
          </a:p>
          <a:p>
            <a:pPr marL="342900" indent="-342900">
              <a:spcBef>
                <a:spcPct val="50000"/>
              </a:spcBef>
              <a:buFontTx/>
              <a:buAutoNum type="arabicPeriod"/>
            </a:pPr>
            <a:r>
              <a:rPr lang="ru-RU" sz="1400" dirty="0">
                <a:latin typeface="Tahoma" pitchFamily="34" charset="0"/>
              </a:rPr>
              <a:t>Определить критический путь проекта</a:t>
            </a:r>
          </a:p>
        </p:txBody>
      </p:sp>
      <p:sp>
        <p:nvSpPr>
          <p:cNvPr id="4117" name="Text Box 23"/>
          <p:cNvSpPr txBox="1">
            <a:spLocks noChangeArrowheads="1"/>
          </p:cNvSpPr>
          <p:nvPr/>
        </p:nvSpPr>
        <p:spPr bwMode="auto">
          <a:xfrm>
            <a:off x="1857356" y="5357826"/>
            <a:ext cx="5113338" cy="30797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1400">
                <a:latin typeface="Tahoma" pitchFamily="34" charset="0"/>
              </a:rPr>
              <a:t>Задачи проекта:</a:t>
            </a:r>
          </a:p>
        </p:txBody>
      </p:sp>
      <p:sp>
        <p:nvSpPr>
          <p:cNvPr id="4118" name="AutoShape 24"/>
          <p:cNvSpPr>
            <a:spLocks noChangeArrowheads="1"/>
          </p:cNvSpPr>
          <p:nvPr/>
        </p:nvSpPr>
        <p:spPr bwMode="auto">
          <a:xfrm>
            <a:off x="6357950" y="3500438"/>
            <a:ext cx="504825" cy="428628"/>
          </a:xfrm>
          <a:prstGeom prst="downArrow">
            <a:avLst>
              <a:gd name="adj1" fmla="val 50000"/>
              <a:gd name="adj2" fmla="val 2853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>
              <a:latin typeface="Tahoma" pitchFamily="34" charset="0"/>
            </a:endParaRPr>
          </a:p>
        </p:txBody>
      </p:sp>
      <p:sp>
        <p:nvSpPr>
          <p:cNvPr id="4119" name="AutoShape 25"/>
          <p:cNvSpPr>
            <a:spLocks noChangeArrowheads="1"/>
          </p:cNvSpPr>
          <p:nvPr/>
        </p:nvSpPr>
        <p:spPr bwMode="auto">
          <a:xfrm>
            <a:off x="4214810" y="5000636"/>
            <a:ext cx="360362" cy="360362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>
              <a:latin typeface="Tahoma" pitchFamily="34" charset="0"/>
            </a:endParaRPr>
          </a:p>
        </p:txBody>
      </p:sp>
      <p:graphicFrame>
        <p:nvGraphicFramePr>
          <p:cNvPr id="4253" name="Group 1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168687"/>
              </p:ext>
            </p:extLst>
          </p:nvPr>
        </p:nvGraphicFramePr>
        <p:xfrm>
          <a:off x="214282" y="1142984"/>
          <a:ext cx="3889375" cy="2525713"/>
        </p:xfrm>
        <a:graphic>
          <a:graphicData uri="http://schemas.openxmlformats.org/drawingml/2006/table">
            <a:tbl>
              <a:tblPr/>
              <a:tblGrid>
                <a:gridCol w="19462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651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Практика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Высокий уровень брака при изготовлении отливок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Снижение уровня выпуска бракованной продукции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47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Отсутствие выгоды от реализации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Приток денежных средств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Высокий расход материальных ресурсов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Снижение расхода металла, уменьшение себестоимости продукции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4188" name="AutoShape 92"/>
          <p:cNvSpPr>
            <a:spLocks noChangeArrowheads="1"/>
          </p:cNvSpPr>
          <p:nvPr/>
        </p:nvSpPr>
        <p:spPr bwMode="auto">
          <a:xfrm flipH="1">
            <a:off x="285720" y="3714752"/>
            <a:ext cx="1585913" cy="2519362"/>
          </a:xfrm>
          <a:custGeom>
            <a:avLst/>
            <a:gdLst>
              <a:gd name="G0" fmla="+- 9257 0 0"/>
              <a:gd name="G1" fmla="+- 16432 0 0"/>
              <a:gd name="G2" fmla="+- 7577 0 0"/>
              <a:gd name="G3" fmla="*/ 9257 1 2"/>
              <a:gd name="G4" fmla="+- G3 10800 0"/>
              <a:gd name="G5" fmla="+- 21600 9257 16432"/>
              <a:gd name="G6" fmla="+- 16432 7577 0"/>
              <a:gd name="G7" fmla="*/ G6 1 2"/>
              <a:gd name="G8" fmla="*/ 16432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6432 1 2"/>
              <a:gd name="G15" fmla="+- G5 0 G4"/>
              <a:gd name="G16" fmla="+- G0 0 G4"/>
              <a:gd name="G17" fmla="*/ G2 G15 G16"/>
              <a:gd name="T0" fmla="*/ 15429 w 21600"/>
              <a:gd name="T1" fmla="*/ 0 h 21600"/>
              <a:gd name="T2" fmla="*/ 9257 w 21600"/>
              <a:gd name="T3" fmla="*/ 7577 h 21600"/>
              <a:gd name="T4" fmla="*/ 0 w 21600"/>
              <a:gd name="T5" fmla="*/ 20282 h 21600"/>
              <a:gd name="T6" fmla="*/ 8216 w 21600"/>
              <a:gd name="T7" fmla="*/ 21600 h 21600"/>
              <a:gd name="T8" fmla="*/ 16432 w 21600"/>
              <a:gd name="T9" fmla="*/ 15781 h 21600"/>
              <a:gd name="T10" fmla="*/ 21600 w 21600"/>
              <a:gd name="T11" fmla="*/ 7577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577"/>
                </a:lnTo>
                <a:lnTo>
                  <a:pt x="14425" y="7577"/>
                </a:lnTo>
                <a:lnTo>
                  <a:pt x="14425" y="18962"/>
                </a:lnTo>
                <a:lnTo>
                  <a:pt x="0" y="18962"/>
                </a:lnTo>
                <a:lnTo>
                  <a:pt x="0" y="21600"/>
                </a:lnTo>
                <a:lnTo>
                  <a:pt x="16432" y="21600"/>
                </a:lnTo>
                <a:lnTo>
                  <a:pt x="16432" y="7577"/>
                </a:lnTo>
                <a:lnTo>
                  <a:pt x="21600" y="7577"/>
                </a:lnTo>
                <a:close/>
              </a:path>
            </a:pathLst>
          </a:cu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ru-RU"/>
          </a:p>
        </p:txBody>
      </p:sp>
      <p:sp>
        <p:nvSpPr>
          <p:cNvPr id="4191" name="AutoShape 95"/>
          <p:cNvSpPr>
            <a:spLocks noChangeArrowheads="1"/>
          </p:cNvSpPr>
          <p:nvPr/>
        </p:nvSpPr>
        <p:spPr bwMode="auto">
          <a:xfrm>
            <a:off x="6971168" y="3500438"/>
            <a:ext cx="1958550" cy="2662240"/>
          </a:xfrm>
          <a:custGeom>
            <a:avLst/>
            <a:gdLst>
              <a:gd name="G0" fmla="+- 9257 0 0"/>
              <a:gd name="G1" fmla="+- 16630 0 0"/>
              <a:gd name="G2" fmla="+- 6258 0 0"/>
              <a:gd name="G3" fmla="*/ 9257 1 2"/>
              <a:gd name="G4" fmla="+- G3 10800 0"/>
              <a:gd name="G5" fmla="+- 21600 9257 16630"/>
              <a:gd name="G6" fmla="+- 16630 6258 0"/>
              <a:gd name="G7" fmla="*/ G6 1 2"/>
              <a:gd name="G8" fmla="*/ 16630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6630 1 2"/>
              <a:gd name="G15" fmla="+- G5 0 G4"/>
              <a:gd name="G16" fmla="+- G0 0 G4"/>
              <a:gd name="G17" fmla="*/ G2 G15 G16"/>
              <a:gd name="T0" fmla="*/ 15429 w 21600"/>
              <a:gd name="T1" fmla="*/ 0 h 21600"/>
              <a:gd name="T2" fmla="*/ 9257 w 21600"/>
              <a:gd name="T3" fmla="*/ 6258 h 21600"/>
              <a:gd name="T4" fmla="*/ 0 w 21600"/>
              <a:gd name="T5" fmla="*/ 20040 h 21600"/>
              <a:gd name="T6" fmla="*/ 8315 w 21600"/>
              <a:gd name="T7" fmla="*/ 21600 h 21600"/>
              <a:gd name="T8" fmla="*/ 16630 w 21600"/>
              <a:gd name="T9" fmla="*/ 14864 h 21600"/>
              <a:gd name="T10" fmla="*/ 21600 w 21600"/>
              <a:gd name="T11" fmla="*/ 6258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6258"/>
                </a:lnTo>
                <a:lnTo>
                  <a:pt x="14227" y="6258"/>
                </a:lnTo>
                <a:lnTo>
                  <a:pt x="14227" y="18479"/>
                </a:lnTo>
                <a:lnTo>
                  <a:pt x="0" y="18479"/>
                </a:lnTo>
                <a:lnTo>
                  <a:pt x="0" y="21600"/>
                </a:lnTo>
                <a:lnTo>
                  <a:pt x="16630" y="21600"/>
                </a:lnTo>
                <a:lnTo>
                  <a:pt x="16630" y="6258"/>
                </a:lnTo>
                <a:lnTo>
                  <a:pt x="21600" y="6258"/>
                </a:lnTo>
                <a:close/>
              </a:path>
            </a:pathLst>
          </a:cu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ru-RU"/>
          </a:p>
        </p:txBody>
      </p:sp>
      <p:graphicFrame>
        <p:nvGraphicFramePr>
          <p:cNvPr id="4252" name="Group 1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621443"/>
              </p:ext>
            </p:extLst>
          </p:nvPr>
        </p:nvGraphicFramePr>
        <p:xfrm>
          <a:off x="4787900" y="1183671"/>
          <a:ext cx="4176713" cy="2316767"/>
        </p:xfrm>
        <a:graphic>
          <a:graphicData uri="http://schemas.openxmlformats.org/drawingml/2006/table">
            <a:tbl>
              <a:tblPr/>
              <a:tblGrid>
                <a:gridCol w="20907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859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273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Теория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482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% брака увеличился, по сравнению с конкурентными организациями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Снижение % </a:t>
                      </a:r>
                      <a:r>
                        <a:rPr kumimoji="0" lang="ru-RU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брака выпускаемой </a:t>
                      </a: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продукции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53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Закупка отливок на стороне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Изготовление отливок в организации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705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Расход ресурсов не оправдан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Снижение расхода ресурсов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57224" y="5214950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Вклад в практику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892" y="5143512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Вклад в теорию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-14560"/>
            <a:ext cx="8229600" cy="1143000"/>
          </a:xfrm>
        </p:spPr>
        <p:txBody>
          <a:bodyPr/>
          <a:lstStyle/>
          <a:p>
            <a:pPr algn="ctr"/>
            <a:r>
              <a:rPr lang="ru-RU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Структура проекта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06" y="908720"/>
            <a:ext cx="7973324" cy="58656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79500" y="0"/>
            <a:ext cx="8064500" cy="908050"/>
          </a:xfrm>
        </p:spPr>
        <p:txBody>
          <a:bodyPr/>
          <a:lstStyle/>
          <a:p>
            <a:r>
              <a:rPr lang="ru-RU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Связи между задачами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59" y="980728"/>
            <a:ext cx="8902541" cy="56166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755576" y="116632"/>
            <a:ext cx="8229600" cy="1000125"/>
          </a:xfrm>
        </p:spPr>
        <p:txBody>
          <a:bodyPr/>
          <a:lstStyle/>
          <a:p>
            <a:r>
              <a:rPr lang="ru-RU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Критический путь проекта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980728"/>
            <a:ext cx="8171405" cy="572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052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99411" y="476672"/>
            <a:ext cx="8075612" cy="344487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Выводы про проекту</a:t>
            </a:r>
            <a:endParaRPr lang="ru-RU" sz="2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39552" y="1052736"/>
            <a:ext cx="7995833" cy="5041230"/>
          </a:xfrm>
        </p:spPr>
        <p:txBody>
          <a:bodyPr>
            <a:noAutofit/>
          </a:bodyPr>
          <a:lstStyle/>
          <a:p>
            <a:pPr marL="0" indent="447675" algn="just">
              <a:lnSpc>
                <a:spcPct val="90000"/>
              </a:lnSpc>
              <a:buFont typeface="Wingdings" pitchFamily="2" charset="2"/>
              <a:buNone/>
            </a:pPr>
            <a:r>
              <a:rPr lang="ru-RU" sz="2300" dirty="0"/>
              <a:t>Для определения продолжительности проекта решены следующие задачи:</a:t>
            </a:r>
          </a:p>
          <a:p>
            <a:pPr marL="0" indent="447675" algn="just">
              <a:lnSpc>
                <a:spcPct val="90000"/>
              </a:lnSpc>
              <a:buFont typeface="Wingdings" pitchFamily="2" charset="2"/>
              <a:buNone/>
              <a:tabLst>
                <a:tab pos="538163" algn="l"/>
              </a:tabLst>
            </a:pPr>
            <a:r>
              <a:rPr lang="ru-RU" sz="2300" dirty="0"/>
              <a:t>1. Разработана структура проекта, которая включает  5 основных этапов (анализ качества выпускаемой продукции, планирование, производство опытной партии, контроль качества изготовленных отливок «Коробка сальника», анализ качества продукции с применением новой технологии изготовлении).</a:t>
            </a:r>
          </a:p>
          <a:p>
            <a:pPr marL="0" indent="447675" algn="just">
              <a:lnSpc>
                <a:spcPct val="90000"/>
              </a:lnSpc>
              <a:buNone/>
              <a:tabLst>
                <a:tab pos="538163" algn="l"/>
              </a:tabLst>
            </a:pPr>
            <a:r>
              <a:rPr lang="ru-RU" sz="2300" dirty="0"/>
              <a:t>2. Определены связи между задачами, в которых преобладает тип связей</a:t>
            </a:r>
            <a:r>
              <a:rPr lang="ru-RU" sz="2300" dirty="0">
                <a:solidFill>
                  <a:srgbClr val="00B050"/>
                </a:solidFill>
              </a:rPr>
              <a:t> </a:t>
            </a:r>
            <a:r>
              <a:rPr lang="ru-RU" sz="2300" dirty="0"/>
              <a:t>- ОН, за исключением задач под номером 8-10, 21-22.</a:t>
            </a:r>
          </a:p>
          <a:p>
            <a:pPr marL="0" indent="447675" algn="just">
              <a:lnSpc>
                <a:spcPct val="90000"/>
              </a:lnSpc>
              <a:buFont typeface="Wingdings" pitchFamily="2" charset="2"/>
              <a:buNone/>
              <a:tabLst>
                <a:tab pos="538163" algn="l"/>
              </a:tabLst>
            </a:pPr>
            <a:r>
              <a:rPr lang="ru-RU" sz="2300" dirty="0"/>
              <a:t>3. Определен критический путь проекта. Анализ критического пути проекта показал, что более 90% задач не имеют временного резерва.</a:t>
            </a:r>
          </a:p>
          <a:p>
            <a:pPr marL="0" indent="447675" algn="just">
              <a:lnSpc>
                <a:spcPct val="90000"/>
              </a:lnSpc>
              <a:buFont typeface="Wingdings" pitchFamily="2" charset="2"/>
              <a:buNone/>
            </a:pPr>
            <a:r>
              <a:rPr lang="ru-RU" sz="2300" dirty="0"/>
              <a:t>Таким образом, решены три задачи, цель достигнута, а продолжительность проекта составляет 114 дней.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2492896"/>
            <a:ext cx="8229600" cy="1399032"/>
          </a:xfrm>
        </p:spPr>
        <p:txBody>
          <a:bodyPr/>
          <a:lstStyle/>
          <a:p>
            <a:r>
              <a:rPr lang="ru-RU" dirty="0"/>
              <a:t>Спасибо за внимание!!!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азлы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Пазлы</Template>
  <TotalTime>775</TotalTime>
  <Words>272</Words>
  <Application>Microsoft Office PowerPoint</Application>
  <PresentationFormat>Экран (4:3)</PresentationFormat>
  <Paragraphs>43</Paragraphs>
  <Slides>7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7</vt:i4>
      </vt:variant>
    </vt:vector>
  </HeadingPairs>
  <TitlesOfParts>
    <vt:vector size="9" baseType="lpstr">
      <vt:lpstr>Пазлы</vt:lpstr>
      <vt:lpstr>Специальное оформление</vt:lpstr>
      <vt:lpstr>Презентация PowerPoint</vt:lpstr>
      <vt:lpstr>Обоснование актуальности темы проекта</vt:lpstr>
      <vt:lpstr>Структура проекта</vt:lpstr>
      <vt:lpstr>Связи между задачами</vt:lpstr>
      <vt:lpstr>Критический путь проекта</vt:lpstr>
      <vt:lpstr>Выводы про проекту</vt:lpstr>
      <vt:lpstr>Спасибо за внимание!!!</vt:lpstr>
    </vt:vector>
  </TitlesOfParts>
  <Company>IME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student</dc:creator>
  <cp:lastModifiedBy>Ann</cp:lastModifiedBy>
  <cp:revision>52</cp:revision>
  <cp:lastPrinted>2019-03-07T06:48:08Z</cp:lastPrinted>
  <dcterms:created xsi:type="dcterms:W3CDTF">2010-03-15T06:47:52Z</dcterms:created>
  <dcterms:modified xsi:type="dcterms:W3CDTF">2022-02-09T20:05:45Z</dcterms:modified>
</cp:coreProperties>
</file>